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AI is not optional—it is existential. Window of opportunity: 18 months. Total ask: TWD 3.6B over 3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presentation: 45 minutes. Allocate 5 minutes per section. Reserve 15 minutes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37% CAGR is achievable because competitor average is 18%. Stress the urgency.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 figures from IDC 2024 and Gartner Q3 2024. SOM is our realistic capture target — 8.5B is 18.9% of 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AlphaAI's 23% churn = our biggest pipeline. 3 of top 5 competitors have legacy architecture we can leapfrog.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path: Q4 2024 CV launch gates manufacturing vertical. Delay = push FY2025 revenue by TWD 0.8B.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Note: 40% FY2025 growth assumes CV launch contributing TWD 0.8B incremental. Conservative case 28% if delayed. Net Income FY2024: 4.20 x 18% x (62%-operating adjustments) = 0.63B — verify with CFO.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IRR 31.4% vs WACC 8.5% = 22.9% spread. Well above 15% project hurdle. Even in downside scenario (-40% revenue), IRR remains positive at 5.2%.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Supply chain risk NOT included — hardware dependencies on TSMC/memory not modeled. Action item: add supply chain risk to next board update. This gap was flagged by Risk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war room: Monday 8am. KPI dashboard live by Day 7. First board progress update: Day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customers have signed NovaTech as strategic vendor for 3 years. Annual contract value: TWD 28M (manufacturing) and TWD 35M (banking).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fee model is strategic — aligns incentives and creates stickiness. FY2024 cohort showing 2.8x expansion by month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Compensation benchmarking in progress. Equity refresh budget TWD 120M approved. VP Engineering package up to TWD 8M (board approval requested today).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 now mandatory in 60% of enterprise RFPs. Scoring: 6 of last 10 deals had ESG questionnaires. Non-compliance risks exclusion from government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Churn is our most controllable lever and has strong IRR sensitivity. Every 1% churn reduction = TWD 42M revenue protection per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Quarterly revenue shows acceleration in H2 driven by CV suite adoption. NRR 118% means existing customers growing faster than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G&amp;A leverage from 12% to 8% is critical for EBITDA expansion. Mainly from finance automation and shared services consolidation.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Vote expected today. If approved, hiring begins tomorrow. Time to market is our #1 competitive risk. Every month of delay = TWD 350M in missed revenue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detailed model ready on laptop. If asked about specific assumptions, reference CFO memo dated Nov 28,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NovaTech AI Strategy 2024–2027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Accelerating Growth with Artificial Intelligence</a:t>
            </a:r>
          </a:p>
          <a:p>
            <a:r>
              <a:rPr sz="1300"/>
              <a:t>Board of Directors Presentation | December 2024 | CONFIDENTIAL</a:t>
            </a:r>
          </a:p>
          <a:p/>
          <a:p>
            <a:r>
              <a:rPr sz="1300"/>
              <a:t>Presented by: CEO &amp; CTO, NovaTech Corporation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1. Executive Summary</a:t>
            </a:r>
          </a:p>
          <a:p>
            <a:r>
              <a:rPr sz="1300"/>
              <a:t>2. Market Opportunity</a:t>
            </a:r>
          </a:p>
          <a:p>
            <a:r>
              <a:rPr sz="1300"/>
              <a:t>3. Competitive Landscape</a:t>
            </a:r>
          </a:p>
          <a:p>
            <a:r>
              <a:rPr sz="1300"/>
              <a:t>4. AI Technology Roadmap 2024–2027</a:t>
            </a:r>
          </a:p>
          <a:p>
            <a:r>
              <a:rPr sz="1300"/>
              <a:t>5. Financial Projections</a:t>
            </a:r>
          </a:p>
          <a:p>
            <a:r>
              <a:rPr sz="1300"/>
              <a:t>6. Investment &amp; ROI Analysis</a:t>
            </a:r>
          </a:p>
          <a:p>
            <a:r>
              <a:rPr sz="1300"/>
              <a:t>7. Risk Assessment</a:t>
            </a:r>
          </a:p>
          <a:p>
            <a:r>
              <a:rPr sz="1300"/>
              <a:t>8. Implementation Milestones</a:t>
            </a:r>
          </a:p>
          <a:p>
            <a:r>
              <a:rPr sz="1300"/>
              <a:t>9. ESG</a:t>
            </a:r>
          </a:p>
          <a:p>
            <a:r>
              <a:rPr sz="1300"/>
              <a:t>10.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NovaTech targets 35% revenue CAGR through AI-driven product lines</a:t>
            </a:r>
          </a:p>
          <a:p>
            <a:r>
              <a:rPr sz="1300"/>
              <a:t>• Total Addressable Market: USD 48B by 2027 (growing at 22% CAGR)</a:t>
            </a:r>
          </a:p>
          <a:p>
            <a:r>
              <a:rPr sz="1300"/>
              <a:t>• NovaTech current market share: 3.2% → target 8.5% by 2027</a:t>
            </a:r>
          </a:p>
          <a:p>
            <a:r>
              <a:rPr sz="1300"/>
              <a:t>• Revenue FY2024E: TWD 4.20B → FY2027 target: TWD 10.80B  (3-yr CAGR: 37.0%)</a:t>
            </a:r>
          </a:p>
          <a:p>
            <a:r>
              <a:rPr sz="1300"/>
              <a:t>• Required investment: TWD 3.60B over 3 years</a:t>
            </a:r>
          </a:p>
          <a:p>
            <a:r>
              <a:rPr sz="1300"/>
              <a:t>• Payback period: 28 months | IRR: 31.4% | NPV @ 10%: TWD 2.1B</a:t>
            </a:r>
          </a:p>
          <a:p>
            <a:r>
              <a:rPr sz="1300"/>
              <a:t>• Break-even on AI product lines: Q3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Global AI Software Market (USD Billions):</a:t>
            </a:r>
          </a:p>
          <a:p>
            <a:r>
              <a:rPr sz="1300"/>
              <a:t>  2022: 21.0  |  2023: 26.5  |  2024E: 32.8  |  2025E: 40.1  |  2026E: 46.2  |  2027E: 48.3</a:t>
            </a:r>
          </a:p>
          <a:p>
            <a:r>
              <a:rPr sz="1300"/>
              <a:t>  CAGR 2022-2027: 18.1%</a:t>
            </a:r>
          </a:p>
          <a:p/>
          <a:p>
            <a:r>
              <a:rPr sz="1300"/>
              <a:t>Taiwan AI Market:</a:t>
            </a:r>
          </a:p>
          <a:p>
            <a:r>
              <a:rPr sz="1300"/>
              <a:t>  TAM 2024: TWD 180B  |  SAM: TWD 45B  |  SOM: TWD 8.5B</a:t>
            </a:r>
          </a:p>
          <a:p/>
          <a:p>
            <a:r>
              <a:rPr sz="1300"/>
              <a:t>NovaTech Revenue Target by Segment (FY2027):</a:t>
            </a:r>
          </a:p>
          <a:p>
            <a:r>
              <a:rPr sz="1300"/>
              <a:t>  Enterprise AI Platform: TWD 4.8B (44%)</a:t>
            </a:r>
          </a:p>
          <a:p>
            <a:r>
              <a:rPr sz="1300"/>
              <a:t>  AI-powered SaaS: TWD 3.6B (33%)</a:t>
            </a:r>
          </a:p>
          <a:p>
            <a:r>
              <a:rPr sz="1300"/>
              <a:t>  Professional Services: TWD 2.4B (22%)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Competitor 1 — TechGiant Corp (Market Share 15%):  Strengths: Brand, deep pockets. Weaknesses: Legacy arch, slow innovation.</a:t>
            </a:r>
          </a:p>
          <a:p>
            <a:r>
              <a:rPr sz="1300"/>
              <a:t>Competitor 2 — DataFlow Inc (Market Share 8%):  Strengths: Strong ML. Weaknesses: No local support, SMB focus.</a:t>
            </a:r>
          </a:p>
          <a:p>
            <a:r>
              <a:rPr sz="1300"/>
              <a:t>Competitor 3 — CloudPeak Ltd (Market Share 11%):  Strengths: Cloud-native, pricing. Weaknesses: Narrow portfolio, security concerns.</a:t>
            </a:r>
          </a:p>
          <a:p>
            <a:r>
              <a:rPr sz="1300"/>
              <a:t>Competitor 4 — AlphaAI Systems (Market Share 9%):  Strengths: R&amp;D 18% of revenue. Weaknesses: Complex onboarding, 23% churn.</a:t>
            </a:r>
          </a:p>
          <a:p>
            <a:r>
              <a:rPr sz="1300"/>
              <a:t>Competitor 5 — SiliconMind (Market Share 7%):  Strengths: HW+SW integration. Weaknesses: High price, limited scale.</a:t>
            </a:r>
          </a:p>
          <a:p/>
          <a:p>
            <a:r>
              <a:rPr sz="1300"/>
              <a:t>NovaTech (Market Share 3.2%): Best implementation speed (6 wks vs industry 14 wks) + compliance expertise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AI Technology Roadmap 2024–2027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Q1 2024 [DONE]: Core AI Platform v1.0 — 50 enterprise customers</a:t>
            </a:r>
          </a:p>
          <a:p>
            <a:r>
              <a:rPr sz="1300"/>
              <a:t>Q2 2024 [DONE]: NLP Module — Taiwanese Mandarin support</a:t>
            </a:r>
          </a:p>
          <a:p>
            <a:r>
              <a:rPr sz="1300"/>
              <a:t>Q3 2024 [DONE]: AutoML pipeline — 60% faster model training</a:t>
            </a:r>
          </a:p>
          <a:p>
            <a:r>
              <a:rPr sz="1300"/>
              <a:t>Q4 2024 [IN PROGRESS]: Computer Vision Suite — manufacturing defect detection</a:t>
            </a:r>
          </a:p>
          <a:p>
            <a:r>
              <a:rPr sz="1300"/>
              <a:t>Q1 2025: AI Platform v2.0 — multi-modal capabilities</a:t>
            </a:r>
          </a:p>
          <a:p>
            <a:r>
              <a:rPr sz="1300"/>
              <a:t>Q2 2025: Edge AI deployment — on-premise option</a:t>
            </a:r>
          </a:p>
          <a:p>
            <a:r>
              <a:rPr sz="1300"/>
              <a:t>Q3 2025: Generative AI integration — LLM-powered analytics</a:t>
            </a:r>
          </a:p>
          <a:p>
            <a:r>
              <a:rPr sz="1300"/>
              <a:t>Q4 2025: AI Marketplace — 3rd party model ecosystem</a:t>
            </a:r>
          </a:p>
          <a:p>
            <a:r>
              <a:rPr sz="1300"/>
              <a:t>2026: Autonomous Operations Suite</a:t>
            </a:r>
          </a:p>
          <a:p>
            <a:r>
              <a:rPr sz="1300"/>
              <a:t>2027: Next-gen reasoning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Financial Projections (TWD Billions)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Revenue:</a:t>
            </a:r>
          </a:p>
          <a:p>
            <a:r>
              <a:rPr sz="1300"/>
              <a:t>  FY2023A: 3.10  |  FY2024E: 4.20  |  FY2025E: 5.88  |  FY2026E: 8.23  |  FY2027E: 10.80</a:t>
            </a:r>
          </a:p>
          <a:p>
            <a:r>
              <a:rPr sz="1300"/>
              <a:t>  Growth:          +35.5%       +40.0%       +40.0%       +31.2%</a:t>
            </a:r>
          </a:p>
          <a:p/>
          <a:p>
            <a:r>
              <a:rPr sz="1300"/>
              <a:t>Gross Margin:  FY2024: 62%  |  FY2025: 65%  |  FY2026: 68%  |  FY2027: 71%</a:t>
            </a:r>
          </a:p>
          <a:p>
            <a:r>
              <a:rPr sz="1300"/>
              <a:t>EBITDA Margin: FY2024: 18%  |  FY2025: 22%  |  FY2026: 27%  |  FY2027: 32%</a:t>
            </a:r>
          </a:p>
          <a:p>
            <a:r>
              <a:rPr sz="1300"/>
              <a:t>Net Income:    FY2024: 0.63B | FY2025: 1.12B | FY2026: 1.89B | FY2027: 2.92B</a:t>
            </a:r>
          </a:p>
          <a:p/>
          <a:p>
            <a:r>
              <a:rPr sz="1300"/>
              <a:t>Key Assumptions: 40 new enterprise clients/qtr, ASP TWD 8.5M, 92% renewal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Investment &amp; ROI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Total 3-Year Investment: TWD 3.60B</a:t>
            </a:r>
          </a:p>
          <a:p>
            <a:r>
              <a:rPr sz="1300"/>
              <a:t>  R&amp;D: TWD 1.44B (40%)  |  Sales &amp; Marketing: TWD 1.08B (30%)</a:t>
            </a:r>
          </a:p>
          <a:p>
            <a:r>
              <a:rPr sz="1300"/>
              <a:t>  Infrastructure: TWD 0.72B (20%)  |  Operations: TWD 0.36B (10%)</a:t>
            </a:r>
          </a:p>
          <a:p>
            <a:r>
              <a:rPr sz="1300"/>
              <a:t>  Verification: 1.44 + 1.08 + 0.72 + 0.36 = TWD 3.60B ✓</a:t>
            </a:r>
          </a:p>
          <a:p/>
          <a:p>
            <a:r>
              <a:rPr sz="1300"/>
              <a:t>ROI by Year of Investment:</a:t>
            </a:r>
          </a:p>
          <a:p>
            <a:r>
              <a:rPr sz="1300"/>
              <a:t>  FY2024: TWD 1.20B invested → TWD 3.10B cumulative return by FY2027 → ROI 158%</a:t>
            </a:r>
          </a:p>
          <a:p>
            <a:r>
              <a:rPr sz="1300"/>
              <a:t>  FY2025: TWD 1.30B invested → TWD 2.40B cumulative return by FY2027 → ROI  85%</a:t>
            </a:r>
          </a:p>
          <a:p>
            <a:r>
              <a:rPr sz="1300"/>
              <a:t>  FY2026: TWD 1.10B invested → TWD 1.50B cumulative return by FY2027 → ROI  36%</a:t>
            </a:r>
          </a:p>
          <a:p/>
          <a:p>
            <a:r>
              <a:rPr sz="1300"/>
              <a:t>IRR: 31.4%  |  Payback: 28 months  |  NPV (10% hurdle): TWD 2.1B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Risk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HIGH PROBABILITY | HIGH IMPACT:</a:t>
            </a:r>
          </a:p>
          <a:p>
            <a:r>
              <a:rPr sz="1300"/>
              <a:t>  R1: Talent shortage (AI engineers 40% below plan) → Offshore team + signing bonuses</a:t>
            </a:r>
          </a:p>
          <a:p>
            <a:r>
              <a:rPr sz="1300"/>
              <a:t>  R2: Regulatory change (PDPA/AI Act compliance cost +TWD 80M) → Legal expansion</a:t>
            </a:r>
          </a:p>
          <a:p/>
          <a:p>
            <a:r>
              <a:rPr sz="1300"/>
              <a:t>HIGH PROBABILITY | LOW IMPACT:</a:t>
            </a:r>
          </a:p>
          <a:p>
            <a:r>
              <a:rPr sz="1300"/>
              <a:t>  R3: Competitor price war → Value-based pricing, ROI proof</a:t>
            </a:r>
          </a:p>
          <a:p>
            <a:r>
              <a:rPr sz="1300"/>
              <a:t>  R4: Customer onboarding delays → Dedicated impl team</a:t>
            </a:r>
          </a:p>
          <a:p/>
          <a:p>
            <a:r>
              <a:rPr sz="1300"/>
              <a:t>LOW PROBABILITY | HIGH IMPACT:</a:t>
            </a:r>
          </a:p>
          <a:p>
            <a:r>
              <a:rPr sz="1300"/>
              <a:t>  R5: Key customer churn (&gt;20% revenue) → Executive sponsorship</a:t>
            </a:r>
          </a:p>
          <a:p>
            <a:r>
              <a:rPr sz="1300"/>
              <a:t>  R6: Cybersecurity breach → ISO 27001 cert by Q2 2025</a:t>
            </a:r>
          </a:p>
          <a:p/>
          <a:p>
            <a:r>
              <a:rPr sz="1300"/>
              <a:t>LOW PROBABILITY | LOW IMPACT:</a:t>
            </a:r>
          </a:p>
          <a:p>
            <a:r>
              <a:rPr sz="1300"/>
              <a:t>  R7: Currency fluctuation → Natural hedge via USD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Implementation: 100-Day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Days 1–30 (CEO owns): Foundation</a:t>
            </a:r>
          </a:p>
          <a:p>
            <a:r>
              <a:rPr sz="1300"/>
              <a:t>  • Hire 15 AI engineers — offer letters by Day 10</a:t>
            </a:r>
          </a:p>
          <a:p>
            <a:r>
              <a:rPr sz="1300"/>
              <a:t>  • Finalize Q4 2024 roadmap | Close 5 pilot enterprise customers</a:t>
            </a:r>
          </a:p>
          <a:p/>
          <a:p>
            <a:r>
              <a:rPr sz="1300"/>
              <a:t>Days 31–60 (CTO owns): Acceleration</a:t>
            </a:r>
          </a:p>
          <a:p>
            <a:r>
              <a:rPr sz="1300"/>
              <a:t>  • Computer Vision Suite beta launch</a:t>
            </a:r>
          </a:p>
          <a:p>
            <a:r>
              <a:rPr sz="1300"/>
              <a:t>  • Sign 3 system integrator partners</a:t>
            </a:r>
          </a:p>
          <a:p>
            <a:r>
              <a:rPr sz="1300"/>
              <a:t>  • TWD 50M marketing campaign launch</a:t>
            </a:r>
          </a:p>
          <a:p/>
          <a:p>
            <a:r>
              <a:rPr sz="1300"/>
              <a:t>Days 61–100 (COO owns): Scale</a:t>
            </a:r>
          </a:p>
          <a:p>
            <a:r>
              <a:rPr sz="1300"/>
              <a:t>  • CV Suite GA release</a:t>
            </a:r>
          </a:p>
          <a:p>
            <a:r>
              <a:rPr sz="1300"/>
              <a:t>  • Q1 2025 planning finalized</a:t>
            </a:r>
          </a:p>
          <a:p>
            <a:r>
              <a:rPr sz="1300"/>
              <a:t>  • First ROI case study published (TSMC supplier)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Customer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Case 1 — TSMC Supplier (Manufacturing):</a:t>
            </a:r>
          </a:p>
          <a:p>
            <a:r>
              <a:rPr sz="1300"/>
              <a:t>  Challenge: 2.3% defect rate in PCB inspection (industry avg 1.8%)</a:t>
            </a:r>
          </a:p>
          <a:p>
            <a:r>
              <a:rPr sz="1300"/>
              <a:t>  Solution: NovaTech CV defect detection model</a:t>
            </a:r>
          </a:p>
          <a:p>
            <a:r>
              <a:rPr sz="1300"/>
              <a:t>  Result: Defect rate → 0.4% | Cost savings: TWD 45M/year | Payback: 8 months</a:t>
            </a:r>
          </a:p>
          <a:p/>
          <a:p>
            <a:r>
              <a:rPr sz="1300"/>
              <a:t>Case 2 — Major Taiwan Bank (Financial Services):</a:t>
            </a:r>
          </a:p>
          <a:p>
            <a:r>
              <a:rPr sz="1300"/>
              <a:t>  Challenge: Fraud detection lag 4 hours | Annual fraud loss TWD 380M</a:t>
            </a:r>
          </a:p>
          <a:p>
            <a:r>
              <a:rPr sz="1300"/>
              <a:t>  Solution: NovaTech real-time ML fraud detection</a:t>
            </a:r>
          </a:p>
          <a:p>
            <a:r>
              <a:rPr sz="1300"/>
              <a:t>  Result: Detection time → 12 minutes | Fraud prevented: TWD 120M/year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Channel Split:</a:t>
            </a:r>
          </a:p>
          <a:p>
            <a:r>
              <a:rPr sz="1300"/>
              <a:t>  Direct Enterprise (60% rev): 30-person field sales, F500 targets</a:t>
            </a:r>
          </a:p>
          <a:p>
            <a:r>
              <a:rPr sz="1300"/>
              <a:t>  Partner Channel (25%): 20 active SI/VAR partners by end 2025</a:t>
            </a:r>
          </a:p>
          <a:p>
            <a:r>
              <a:rPr sz="1300"/>
              <a:t>  Digital/PLG (15%): Self-serve SMB, CAC target TWD 15,000</a:t>
            </a:r>
          </a:p>
          <a:p/>
          <a:p>
            <a:r>
              <a:rPr sz="1300"/>
              <a:t>Pricing:</a:t>
            </a:r>
          </a:p>
          <a:p>
            <a:r>
              <a:rPr sz="1300"/>
              <a:t>  Platform: TWD 2.4M/year base + TWD 480K/module</a:t>
            </a:r>
          </a:p>
          <a:p>
            <a:r>
              <a:rPr sz="1300"/>
              <a:t>  Professional Services: TWD 12,000/day</a:t>
            </a:r>
          </a:p>
          <a:p>
            <a:r>
              <a:rPr sz="1300"/>
              <a:t>  Success Fee: 15% of documented savings (risk-sharing option)</a:t>
            </a:r>
          </a:p>
          <a:p/>
          <a:p>
            <a:r>
              <a:rPr sz="1300"/>
              <a:t>Land-and-Expand: Avg deal starts TWD 3M → grows to TWD 8.5M in 18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Team &amp;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Current Headcount: 280 FTEs</a:t>
            </a:r>
          </a:p>
          <a:p>
            <a:r>
              <a:rPr sz="1300"/>
              <a:t>  Engineering: 140 (50%) | Sales: 52 (19%) | Product: 35 (13%) | G&amp;A: 53 (19%)</a:t>
            </a:r>
          </a:p>
          <a:p/>
          <a:p>
            <a:r>
              <a:rPr sz="1300"/>
              <a:t>FY2025 Hiring Plan (Net +120): </a:t>
            </a:r>
          </a:p>
          <a:p>
            <a:r>
              <a:rPr sz="1300"/>
              <a:t>  Engineering +55: ML Eng 20, Platform 15, DevOps 10, QA 10</a:t>
            </a:r>
          </a:p>
          <a:p>
            <a:r>
              <a:rPr sz="1300"/>
              <a:t>  Sales +35: Enterprise AE 15, SE 10, SDR 10</a:t>
            </a:r>
          </a:p>
          <a:p>
            <a:r>
              <a:rPr sz="1300"/>
              <a:t>  Product +15 | G&amp;A +15</a:t>
            </a:r>
          </a:p>
          <a:p/>
          <a:p>
            <a:r>
              <a:rPr sz="1300"/>
              <a:t>Key Hires Needed: VP Engineering (ML focus), Head of APAC Sales</a:t>
            </a:r>
          </a:p>
          <a:p>
            <a:r>
              <a:rPr sz="1300"/>
              <a:t>Current attrition: 14% → Target: &lt;10% by Q2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ESG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Environmental:</a:t>
            </a:r>
          </a:p>
          <a:p>
            <a:r>
              <a:rPr sz="1300"/>
              <a:t>  • Data center PUE target 1.35 by 2026 (currently 1.52)</a:t>
            </a:r>
          </a:p>
          <a:p>
            <a:r>
              <a:rPr sz="1300"/>
              <a:t>  • Carbon neutral commitment by 2030</a:t>
            </a:r>
          </a:p>
          <a:p>
            <a:r>
              <a:rPr sz="1300"/>
              <a:t>  • 45% renewable power purchase agreement by 2025</a:t>
            </a:r>
          </a:p>
          <a:p/>
          <a:p>
            <a:r>
              <a:rPr sz="1300"/>
              <a:t>Social:</a:t>
            </a:r>
          </a:p>
          <a:p>
            <a:r>
              <a:rPr sz="1300"/>
              <a:t>  • AI Literacy Program: 1,000 students trained 2024</a:t>
            </a:r>
          </a:p>
          <a:p>
            <a:r>
              <a:rPr sz="1300"/>
              <a:t>  • Gender diversity target: 35% women in tech by 2026 (currently 22%)</a:t>
            </a:r>
          </a:p>
          <a:p/>
          <a:p>
            <a:r>
              <a:rPr sz="1300"/>
              <a:t>Governance:</a:t>
            </a:r>
          </a:p>
          <a:p>
            <a:r>
              <a:rPr sz="1300"/>
              <a:t>  • AI Ethics Board established Q2 2024 (5 external members)</a:t>
            </a:r>
          </a:p>
          <a:p>
            <a:r>
              <a:rPr sz="1300"/>
              <a:t>  • Bias audit on all customer-facing models annually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Financial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Scenario Analysis (IRR under different revenue growth assumptions):</a:t>
            </a:r>
          </a:p>
          <a:p>
            <a:r>
              <a:rPr sz="1300"/>
              <a:t>  Bull Case  (+20% vs Base): Revenue CAGR 56% → IRR 44.2%</a:t>
            </a:r>
          </a:p>
          <a:p>
            <a:r>
              <a:rPr sz="1300"/>
              <a:t>  Base Case  (Plan):         Revenue CAGR 37% → IRR 31.4%</a:t>
            </a:r>
          </a:p>
          <a:p>
            <a:r>
              <a:rPr sz="1300"/>
              <a:t>  Bear Case  (-20% vs Base): Revenue CAGR 18% → IRR 18.7%</a:t>
            </a:r>
          </a:p>
          <a:p>
            <a:r>
              <a:rPr sz="1300"/>
              <a:t>  Downside   (-40% vs Base): Revenue flat      → IRR  5.2%</a:t>
            </a:r>
          </a:p>
          <a:p/>
          <a:p>
            <a:r>
              <a:rPr sz="1300"/>
              <a:t>Key Sensitivities (1ppt change → IRR delta):</a:t>
            </a:r>
          </a:p>
          <a:p>
            <a:r>
              <a:rPr sz="1300"/>
              <a:t>  Revenue growth ±1% → ±0.8% IRR</a:t>
            </a:r>
          </a:p>
          <a:p>
            <a:r>
              <a:rPr sz="1300"/>
              <a:t>  Gross margin  ±1% → ±0.4% IRR</a:t>
            </a:r>
          </a:p>
          <a:p>
            <a:r>
              <a:rPr sz="1300"/>
              <a:t>  Churn rate    ±1% → ±0.6% IRR  ← Most controllable lever</a:t>
            </a:r>
          </a:p>
          <a:p/>
          <a:p>
            <a:r>
              <a:rPr sz="1300"/>
              <a:t>Floor case still above cost of capital (8.5%) unless revenue flat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Appendix: Detailed Financial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Quarterly Revenue Build (TWD M):</a:t>
            </a:r>
          </a:p>
          <a:p>
            <a:r>
              <a:rPr sz="1300"/>
              <a:t>  Q1 2024: 945  |  Q2 2024: 1,020  |  Q3 2024: 1,085  |  Q4 2024: 1,150  | FY2024E: 4,200</a:t>
            </a:r>
          </a:p>
          <a:p>
            <a:r>
              <a:rPr sz="1300"/>
              <a:t>  Q1 2025: 1,300| Q2 2025: 1,430  | Q3 2025: 1,568  | Q4 2025: 1,582  | FY2025E: 5,880</a:t>
            </a:r>
          </a:p>
          <a:p>
            <a:r>
              <a:rPr sz="1300"/>
              <a:t>  FY2026E: 8,232 (Q by Q: 1,850 / 2,025 / 2,180 / 2,177)</a:t>
            </a:r>
          </a:p>
          <a:p>
            <a:r>
              <a:rPr sz="1300"/>
              <a:t>  FY2027E: 10,800</a:t>
            </a:r>
          </a:p>
          <a:p/>
          <a:p>
            <a:r>
              <a:rPr sz="1300"/>
              <a:t>Annual Recurring Revenue (ARR) Build:</a:t>
            </a:r>
          </a:p>
          <a:p>
            <a:r>
              <a:rPr sz="1300"/>
              <a:t>  FY2024E ARR: TWD 3.8B | FY2025E: TWD 5.3B | Net Revenue Retention: 118%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Appendix: Headcount &amp;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Total Opex as % of Revenue:</a:t>
            </a:r>
          </a:p>
          <a:p>
            <a:r>
              <a:rPr sz="1300"/>
              <a:t>  R&amp;D:   FY2024: 28% → FY2027: 22% (scale leverage)</a:t>
            </a:r>
          </a:p>
          <a:p>
            <a:r>
              <a:rPr sz="1300"/>
              <a:t>  S&amp;M:   FY2024: 22% → FY2027: 18%</a:t>
            </a:r>
          </a:p>
          <a:p>
            <a:r>
              <a:rPr sz="1300"/>
              <a:t>  G&amp;A:   FY2024: 12% → FY2027: 8%</a:t>
            </a:r>
          </a:p>
          <a:p>
            <a:r>
              <a:rPr sz="1300"/>
              <a:t>  COGS:  FY2024: 38% → FY2027: 29% (gross margin expansion)</a:t>
            </a:r>
          </a:p>
          <a:p/>
          <a:p>
            <a:r>
              <a:rPr sz="1300"/>
              <a:t>Headcount Productivity (Revenue/FTE, TWD M):</a:t>
            </a:r>
          </a:p>
          <a:p>
            <a:r>
              <a:rPr sz="1300"/>
              <a:t>  FY2024: 15.0 | FY2025: 16.5 | FY2026: 19.3 | FY2027: 22.5</a:t>
            </a:r>
          </a:p>
          <a:p/>
          <a:p>
            <a:r>
              <a:rPr sz="1300"/>
              <a:t>Stock-based Compensation: TWD 180M annually (FY2025 plan)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Investment Thesis — 5 Key Points:</a:t>
            </a:r>
          </a:p>
          <a:p>
            <a:r>
              <a:rPr sz="1300"/>
              <a:t>  ✓ Large growing market: USD 48B by 2027</a:t>
            </a:r>
          </a:p>
          <a:p>
            <a:r>
              <a:rPr sz="1300"/>
              <a:t>  ✓ Proven competitive differentiation: 6-wk implementation vs 14-wk industry</a:t>
            </a:r>
          </a:p>
          <a:p>
            <a:r>
              <a:rPr sz="1300"/>
              <a:t>  ✓ Validated ROI: 2 case studies showing 8-month payback</a:t>
            </a:r>
          </a:p>
          <a:p>
            <a:r>
              <a:rPr sz="1300"/>
              <a:t>  ✓ Strong returns: 31.4% IRR, 28-month payback</a:t>
            </a:r>
          </a:p>
          <a:p>
            <a:r>
              <a:rPr sz="1300"/>
              <a:t>  ✓ Experienced team with track record</a:t>
            </a:r>
          </a:p>
          <a:p/>
          <a:p>
            <a:r>
              <a:rPr sz="1300"/>
              <a:t>Board Approval Requested:</a:t>
            </a:r>
          </a:p>
          <a:p>
            <a:r>
              <a:rPr sz="1300"/>
              <a:t>  1. TWD 3.60B capital allocation (FY2024-2026)</a:t>
            </a:r>
          </a:p>
          <a:p>
            <a:r>
              <a:rPr sz="1300"/>
              <a:t>  2. Amended executive compensation plan</a:t>
            </a:r>
          </a:p>
          <a:p>
            <a:r>
              <a:rPr sz="1300"/>
              <a:t>  3. VP Engineering hire authority (up to TWD 8M package)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5E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Thank you for your attention.</a:t>
            </a:r>
          </a:p>
          <a:p/>
          <a:p>
            <a:r>
              <a:rPr sz="1300"/>
              <a:t>Key Contacts:</a:t>
            </a:r>
          </a:p>
          <a:p>
            <a:r>
              <a:rPr sz="1300"/>
              <a:t>  CEO: ceo@novatech.com.tw</a:t>
            </a:r>
          </a:p>
          <a:p>
            <a:r>
              <a:rPr sz="1300"/>
              <a:t>  CFO: cfo@novatech.com.tw</a:t>
            </a:r>
          </a:p>
          <a:p>
            <a:r>
              <a:rPr sz="1300"/>
              <a:t>  CTO: cto@novatech.com.tw</a:t>
            </a:r>
          </a:p>
          <a:p/>
          <a:p>
            <a:r>
              <a:rPr sz="1300"/>
              <a:t>Supplemental materials available upon request:</a:t>
            </a:r>
          </a:p>
          <a:p>
            <a:r>
              <a:rPr sz="1300"/>
              <a:t>  • Detailed 5-year financial model (Excel)</a:t>
            </a:r>
          </a:p>
          <a:p>
            <a:r>
              <a:rPr sz="1300"/>
              <a:t>  • Technical architecture whitepaper</a:t>
            </a:r>
          </a:p>
          <a:p>
            <a:r>
              <a:rPr sz="1300"/>
              <a:t>  • Customer reference list (NDA required)</a:t>
            </a:r>
          </a:p>
          <a:p>
            <a:r>
              <a:rPr sz="1300"/>
              <a:t>  • Competitive intelligence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